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52514E"/>
                </a:solidFill>
              </a:rPr>
              <a:t>Illustrative entry-level pricing ($/user/month)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Typical entry price ($/user/month)</c:v>
                </c:pt>
              </c:strCache>
            </c:strRef>
          </c:tx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dPt>
            <c:idx val="2"/>
            <c:spPr>
              <a:solidFill>
                <a:srgbClr val="184F95"/>
              </a:solidFill>
            </c:spPr>
          </c:dPt>
          <c:dPt>
            <c:idx val="3"/>
            <c:spPr>
              <a:solidFill>
                <a:srgbClr val="1BAF7A"/>
              </a:solidFill>
            </c:spPr>
          </c:dPt>
          <c:cat>
            <c:strRef>
              <c:f>Sheet1!$A$2:$A$5</c:f>
              <c:strCache>
                <c:ptCount val="4"/>
                <c:pt idx="0">
                  <c:v>SAP
S/4HANA</c:v>
                </c:pt>
                <c:pt idx="1">
                  <c:v>Oracle
NetSuite</c:v>
                </c:pt>
                <c:pt idx="2">
                  <c:v>MS Dynamics
365 BC</c:v>
                </c:pt>
                <c:pt idx="3">
                  <c:v>Odoo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</c:v>
                </c:pt>
                <c:pt idx="1">
                  <c:v>129</c:v>
                </c:pt>
                <c:pt idx="2">
                  <c:v>80</c:v>
                </c:pt>
                <c:pt idx="3">
                  <c:v>25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sz="11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1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Year-1 cost (USD, low end)</c:v>
                </c:pt>
              </c:strCache>
            </c:strRef>
          </c:tx>
          <c:dPt>
            <c:idx val="0"/>
            <c:spPr>
              <a:solidFill>
                <a:srgbClr val="EB6834"/>
              </a:solidFill>
            </c:spPr>
          </c:dPt>
          <c:dPt>
            <c:idx val="1"/>
            <c:spPr>
              <a:solidFill>
                <a:srgbClr val="184F95"/>
              </a:solidFill>
            </c:spPr>
          </c:dPt>
          <c:dPt>
            <c:idx val="2"/>
            <c:spPr>
              <a:solidFill>
                <a:srgbClr val="1BAF7A"/>
              </a:solidFill>
            </c:spPr>
          </c:dPt>
          <c:cat>
            <c:strRef>
              <c:f>Sheet1!$A$2:$A$4</c:f>
              <c:strCache>
                <c:ptCount val="3"/>
                <c:pt idx="0">
                  <c:v>SAP
(mid-market)</c:v>
                </c:pt>
                <c:pt idx="1">
                  <c:v>Logo
(SMB, est.)</c:v>
                </c:pt>
                <c:pt idx="2">
                  <c:v>Us
(Growth tier)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150000</c:v>
                </c:pt>
                <c:pt idx="1">
                  <c:v>20000</c:v>
                </c:pt>
                <c:pt idx="2">
                  <c:v>8400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2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AI-NATIVE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AI-Native Alternative to SAP — Built for Turkey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CFE1F7"/>
                </a:solidFill>
                <a:latin typeface="Segoe UI"/>
              </a:rPr>
              <a:t>A modular, AI-first ERP platform: compliance-ready for Turkey from day one, priced transparently, and built to compete with SAP, Logo, and the new wave of AI-native challengers.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Product &amp; Market Strategy  —  Draft v1  —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SAP is unaffordable. Logo is affordable but dated.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486400" cy="4480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Segoe UI"/>
              </a:rPr>
              <a:t>SAP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Expensive &amp; consultant-dependent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93776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Implementations: $1.5M–$4M mid-size; $3M–$20M+ enterprise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SI/consultant fees = 40–60% of total project cost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Consultant day rates: $1,800–$2,500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Multi-year rollout cycles, even for “cloud” editions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86400" cy="448056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486400" cy="73152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4F95"/>
                </a:solidFill>
                <a:latin typeface="Segoe UI"/>
              </a:rPr>
              <a:t>Logo Yazılım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Cheaper, but shows its 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93776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Repeated complaints: outages, unresolved bugs, “every update breaks something”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Opaque, reseller-quoted implementation pricing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Dated UX; heavy web client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350">
                <a:solidFill>
                  <a:srgbClr val="0B0B0B"/>
                </a:solidFill>
                <a:latin typeface="Segoe UI"/>
              </a:rPr>
              <a:t>▸  Wins mainly on compliance reliability + incumbency, not product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AI is bolted on everywhere else. We build it 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035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0B0B0B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30936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84F95"/>
                </a:solidFill>
                <a:latin typeface="Segoe UI"/>
              </a:rPr>
              <a:t>▸  Retrofitted, not native.</a:t>
            </a:r>
            <a:r>
              <a:rPr sz="1500" b="0">
                <a:solidFill>
                  <a:srgbClr val="0B0B0B"/>
                </a:solidFill>
                <a:latin typeface="Segoe UI"/>
              </a:rPr>
              <a:t>  SAP Joule, MS Copilot, and Oracle Fusion AI Agents are real and improving fast — but bolted onto schemas designed decades before LLMs existed.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84F95"/>
                </a:solidFill>
                <a:latin typeface="Segoe UI"/>
              </a:rPr>
              <a:t>▸  A funded challenger wave exists…</a:t>
            </a:r>
            <a:r>
              <a:rPr sz="1500" b="0">
                <a:solidFill>
                  <a:srgbClr val="0B0B0B"/>
                </a:solidFill>
                <a:latin typeface="Segoe UI"/>
              </a:rPr>
              <a:t>  Rillet, DualEntry, Campfire, Light, Everest have raised $400M+ in 18 months rebuilding ERP AI-native from the ground up.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84F95"/>
                </a:solidFill>
                <a:latin typeface="Segoe UI"/>
              </a:rPr>
              <a:t>▸  …but none touch Turkey.</a:t>
            </a:r>
            <a:r>
              <a:rPr sz="1500" b="0">
                <a:solidFill>
                  <a:srgbClr val="0B0B0B"/>
                </a:solidFill>
                <a:latin typeface="Segoe UI"/>
              </a:rPr>
              <a:t>  None of them handle e-Devlet compliance. None offer full operational scope — manufacturing, inventory, HR — they are finance/close-only.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84F95"/>
                </a:solidFill>
                <a:latin typeface="Segoe UI"/>
              </a:rPr>
              <a:t>▸  Turkey is structurally under-served.</a:t>
            </a:r>
            <a:r>
              <a:rPr sz="1500" b="0">
                <a:solidFill>
                  <a:srgbClr val="0B0B0B"/>
                </a:solidFill>
                <a:latin typeface="Segoe UI"/>
              </a:rPr>
              <a:t>  76%+ of 10–49-employee Turkish firms run no ERP at all today — a greenfield opportunity, not just a displacement fight.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1600200"/>
            <a:ext cx="4480560" cy="42519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920240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B6834"/>
                </a:solidFill>
                <a:latin typeface="Segoe UI"/>
              </a:rP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24612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of Turkish firms with 10–49 employees run NO ERP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25196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CFE1F7"/>
                </a:solidFill>
                <a:latin typeface="Segoe UI"/>
              </a:rPr>
              <a:t>ERP penetration roughly doubles once firms cross into the 50–249 employee band (46.0%) — the smallest firms are the least served and the least fought-over.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55778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Source: TÜİK 2025 enterprise ICT-usage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GLOBAL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Legacy pricing scales with complexity, not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9164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03720" y="1737360"/>
            <a:ext cx="47091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184F95"/>
                </a:solidFill>
                <a:latin typeface="Segoe UI"/>
              </a:rPr>
              <a:t>▸  SAP:</a:t>
            </a:r>
            <a:r>
              <a:rPr sz="1350" b="0">
                <a:solidFill>
                  <a:srgbClr val="0B0B0B"/>
                </a:solidFill>
                <a:latin typeface="Segoe UI"/>
              </a:rPr>
              <a:t>  $1.5M–$20M+ implementations; 3-yr TCO $150K–$600K mid-market alone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184F95"/>
                </a:solidFill>
                <a:latin typeface="Segoe UI"/>
              </a:rPr>
              <a:t>▸  NetSuite:</a:t>
            </a:r>
            <a:r>
              <a:rPr sz="1350" b="0">
                <a:solidFill>
                  <a:srgbClr val="0B0B0B"/>
                </a:solidFill>
                <a:latin typeface="Segoe UI"/>
              </a:rPr>
              <a:t>  6–10 modules typical; each add-on $499–5,000/month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184F95"/>
                </a:solidFill>
                <a:latin typeface="Segoe UI"/>
              </a:rPr>
              <a:t>▸  Dynamics 365 BC:</a:t>
            </a:r>
            <a:r>
              <a:rPr sz="1350" b="0">
                <a:solidFill>
                  <a:srgbClr val="0B0B0B"/>
                </a:solidFill>
                <a:latin typeface="Segoe UI"/>
              </a:rPr>
              <a:t>  Passed NetSuite in customer count in 2025 (50K+ customers)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50" b="1">
                <a:solidFill>
                  <a:srgbClr val="184F95"/>
                </a:solidFill>
                <a:latin typeface="Segoe UI"/>
              </a:rPr>
              <a:t>▸  Odoo:</a:t>
            </a:r>
            <a:r>
              <a:rPr sz="1350" b="0">
                <a:solidFill>
                  <a:srgbClr val="0B0B0B"/>
                </a:solidFill>
                <a:latin typeface="Segoe UI"/>
              </a:rPr>
              <a:t>  Flat per-user pricing, all apps included — closest model to 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THE AI-NATIVE CHALLENGER WAVE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$400M+ raised in 18 months — and none serve Turkey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4572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Company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691640"/>
            <a:ext cx="2103120" cy="4572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76479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Funding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7223760" cy="4572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6479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The Bet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01168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21992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Rillet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148840"/>
            <a:ext cx="210312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221992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$95M+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148840"/>
            <a:ext cx="722376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221992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AI-native GL; 4-week implementations vs. ~12mo legacy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0632"/>
            <a:ext cx="201168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43784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DualEntry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770632"/>
            <a:ext cx="210312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843784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$100M+ / $415M 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770632"/>
            <a:ext cx="722376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843784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Full financial suite rip-and-replace; “$10-100M gap”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92424"/>
            <a:ext cx="201168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465576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Campfire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392424"/>
            <a:ext cx="210312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465576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$100M in 12 weeks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392424"/>
            <a:ext cx="722376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465576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Proprietary “Large Accounting Model”; wins customers from NetSuite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14216"/>
            <a:ext cx="201168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87368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Light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014216"/>
            <a:ext cx="210312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4087368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~$43M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4014216"/>
            <a:ext cx="7223760" cy="621792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087368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Rebuilt GL for speed; multi-entity, multi-country hypergrowth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636008"/>
            <a:ext cx="201168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09160"/>
            <a:ext cx="1737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Everest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636008"/>
            <a:ext cx="210312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4709160"/>
            <a:ext cx="1828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$140M seed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4636008"/>
            <a:ext cx="7223760" cy="621792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4709160"/>
            <a:ext cx="6949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Founded by ex-SAP HANA architect — a bet directly against SAP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6834"/>
                </a:solidFill>
                <a:latin typeface="Segoe UI"/>
              </a:rPr>
              <a:t>The gap: all are finance/close-focused, English-market only. None handle e-Fatura/e-Defter/e-İrsaliye or broader operational ERP (manufacturing, inventory, HR).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TURKEY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Logo Yazılım: incumbent, but vulnerable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394960" cy="44348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Logo Yazılım —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AF7A"/>
                </a:solidFill>
                <a:latin typeface="Segoe UI"/>
              </a:rPr>
              <a:t>TRY 5.8B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1343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FY2025 revenue (+9% real growth)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AF7A"/>
                </a:solidFill>
                <a:latin typeface="Segoe UI"/>
              </a:rPr>
              <a:t>85,000+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13639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customers cited (market leader by count)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AF7A"/>
                </a:solidFill>
                <a:latin typeface="Segoe UI"/>
              </a:rPr>
              <a:t>TRY 3.19B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9593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cloud-based revenue (majority of business)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AF7A"/>
                </a:solidFill>
                <a:latin typeface="Segoe UI"/>
              </a:rPr>
              <a:t>2013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78231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acquired Netsis, the #2 independent vendor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5532120" cy="443484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6834"/>
                </a:solidFill>
                <a:latin typeface="Segoe UI"/>
              </a:rPr>
              <a:t>Documented, repeated criticisms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2920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▸  Support/call-center unavailability during invoicing outages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▸  ~2 years of unresolved WMS/stock-count issues for some users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▸  “Every update breaks something,” worse after e-İrsaliye rollout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▸  High LEM (maintenance) fees “without value in return”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▸  Opaque, reseller-quoted implementation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TURKEY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Non-negotiable table stakes — and our built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Requirement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691640"/>
            <a:ext cx="8503920" cy="4572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647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What it requires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74320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4688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e-Fatura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48840"/>
            <a:ext cx="850392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8229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Mandatory above TRY 3M revenue (TRY 500K e-commerce/real estate; no threshold for hotels)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07208"/>
            <a:ext cx="2743200" cy="658368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98648"/>
            <a:ext cx="24688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e-Defter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807208"/>
            <a:ext cx="8503920" cy="658368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898648"/>
            <a:ext cx="8229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Mandatory for anyone on e-Fatura keeping accrual-basis books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274320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24688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e-İrsaliye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465576"/>
            <a:ext cx="850392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557016"/>
            <a:ext cx="8229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Mandatory for e-Fatura filers with 2025 revenue ≥ TRY 10M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23944"/>
            <a:ext cx="2743200" cy="658368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4"/>
            <a:ext cx="24688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SGK / e-Bildirge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4123944"/>
            <a:ext cx="8503920" cy="658368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4215384"/>
            <a:ext cx="8229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Mandatory monthly payroll submission for anyone with employees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82312"/>
            <a:ext cx="274320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73752"/>
            <a:ext cx="24688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84F95"/>
                </a:solidFill>
                <a:latin typeface="Segoe UI"/>
              </a:rPr>
              <a:t>KDV / e-Beyanname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782312"/>
            <a:ext cx="8503920" cy="65836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873752"/>
            <a:ext cx="82296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B0B0B"/>
                </a:solidFill>
                <a:latin typeface="Segoe UI"/>
              </a:rPr>
              <a:t>GİB pushing toward direct software-to-government API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EB6834"/>
                </a:solidFill>
                <a:latin typeface="Segoe UI"/>
              </a:rPr>
              <a:t>This requires a dedicated, permanently-staffed compliance team tracking GİB Tebliğ changes — not a one-time build. It's the largest moat protecting Logo today, and the largest cost we must own to make it ours instead.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OUR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Five product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2148840" cy="4297680"/>
          </a:xfrm>
          <a:prstGeom prst="rect">
            <a:avLst/>
          </a:prstGeom>
          <a:solidFill>
            <a:srgbClr val="14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1488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65960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77440"/>
            <a:ext cx="1819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AI is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46120"/>
            <a:ext cx="18196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E1F7"/>
                </a:solidFill>
                <a:latin typeface="Segoe UI"/>
              </a:rPr>
              <a:t>Not a feature. Every screen and record has an AI layer that can explain, query, and (with confirmation) 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6352" y="1691640"/>
            <a:ext cx="2148840" cy="4297680"/>
          </a:xfrm>
          <a:prstGeom prst="rect">
            <a:avLst/>
          </a:prstGeom>
          <a:solidFill>
            <a:srgbClr val="14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6352" y="1691640"/>
            <a:ext cx="21488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965960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377440"/>
            <a:ext cx="1819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Modular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3246120"/>
            <a:ext cx="18196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E1F7"/>
                </a:solidFill>
                <a:latin typeface="Segoe UI"/>
              </a:rPr>
              <a:t>Core + independently-priced Packages sharing one data model and one AI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9784" y="1691640"/>
            <a:ext cx="2148840" cy="4297680"/>
          </a:xfrm>
          <a:prstGeom prst="rect">
            <a:avLst/>
          </a:prstGeom>
          <a:solidFill>
            <a:srgbClr val="14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9784" y="1691640"/>
            <a:ext cx="21488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1965960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377440"/>
            <a:ext cx="1819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Compliance is a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3246120"/>
            <a:ext cx="18196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E1F7"/>
                </a:solidFill>
                <a:latin typeface="Segoe UI"/>
              </a:rPr>
              <a:t>Country requirements are a pluggable Localization layer the core supports from day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3216" y="1691640"/>
            <a:ext cx="2148840" cy="4297680"/>
          </a:xfrm>
          <a:prstGeom prst="rect">
            <a:avLst/>
          </a:prstGeom>
          <a:solidFill>
            <a:srgbClr val="14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6" y="1691640"/>
            <a:ext cx="21488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1965960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2377440"/>
            <a:ext cx="1819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Transparent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246120"/>
            <a:ext cx="18196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E1F7"/>
                </a:solidFill>
                <a:latin typeface="Segoe UI"/>
              </a:rPr>
              <a:t>Every tier and package has a public price — unlike SAP's negotiation or Logo's reseller quotes.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6648" y="1691640"/>
            <a:ext cx="2148840" cy="4297680"/>
          </a:xfrm>
          <a:prstGeom prst="rect">
            <a:avLst/>
          </a:prstGeom>
          <a:solidFill>
            <a:srgbClr val="14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56648" y="1691640"/>
            <a:ext cx="214884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965960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377440"/>
            <a:ext cx="18196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Fast time-to-value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46120"/>
            <a:ext cx="181965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FE1F7"/>
                </a:solidFill>
                <a:latin typeface="Segoe UI"/>
              </a:rPr>
              <a:t>Weeks, not years — AI accelerates migration and configuration itself.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C2B7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C3C2B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AI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Embedded by default — not an add-on package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00584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Base AI chat is included in every tier, always on. Only the deep end — agentic, high-volume automation — is metered. If AI were optional, we'd just be another ERP with a chatbot upsell.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80360"/>
            <a:ext cx="3611880" cy="3200400"/>
          </a:xfrm>
          <a:prstGeom prst="rect">
            <a:avLst/>
          </a:prstGeom>
          <a:solidFill>
            <a:srgbClr val="FCFCFB"/>
          </a:solidFill>
          <a:ln w="6350">
            <a:solidFill>
              <a:srgbClr val="FCF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61188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Included — every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2004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Conversational Q&amp;A across owned modules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Explanations of any record or workflow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Guided report generation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Basic anomaly flags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880360"/>
            <a:ext cx="3611880" cy="3200400"/>
          </a:xfrm>
          <a:prstGeom prst="rect">
            <a:avLst/>
          </a:prstGeom>
          <a:solidFill>
            <a:srgbClr val="FCFCFB"/>
          </a:solidFill>
          <a:ln w="6350">
            <a:solidFill>
              <a:srgbClr val="FCF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880360"/>
            <a:ext cx="361188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Metered — “AI Action credits”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2004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Agentic multi-step automation (auto-draft POs, reconciliation sweeps)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Autonomous forecasting agents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High-volume usage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Custom workflow 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880360"/>
            <a:ext cx="3611880" cy="3200400"/>
          </a:xfrm>
          <a:prstGeom prst="rect">
            <a:avLst/>
          </a:prstGeom>
          <a:solidFill>
            <a:srgbClr val="FCFCFB"/>
          </a:solidFill>
          <a:ln w="6350">
            <a:solidFill>
              <a:srgbClr val="FCF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880360"/>
            <a:ext cx="3611880" cy="50292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9992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Enterprise-only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2004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Custom agent development tooling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Per-customer fine-tuned semantic layer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On-prem / VPC model isolation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▸  Dedicated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How the assistant stays accurate, safe, and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Semantic layer, never raw text-to-SQL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Enterprise accuracy collapses from 91%→21% without one — metrics are computed deterministically, LLM only narrates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4592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Read vs. write are separate trust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Questions are automatic; actions are explicit, schema-typed tools (MCP pattern) with business-rule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Permission enforcement at the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Never post-retrieval filtering — the root cause of real incidents like Microsoft 365 Copilot's EchoLeak (CVE-2025-32711)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15468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Human-in-the-loop for mutating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Durable “pending_approval” checkpoints above a configurable risk/dollar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Full AI audit trail by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Prompt + context + tool calls + approvals, append-only — ready for EU AI Act enforcement (Aug 2026)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663440"/>
            <a:ext cx="54864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366B"/>
                </a:solidFill>
                <a:latin typeface="Segoe UI"/>
              </a:rPr>
              <a:t>Golden-query library with feedback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120640"/>
            <a:ext cx="5257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User corrections continuously improve accuracy — a cheap, high-leverage 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PRODUCT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One Core. Independently-priced Packages.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13716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6834"/>
                </a:solidFill>
                <a:latin typeface="Segoe UI"/>
              </a:rPr>
              <a:t>CORE PLATFORM  (included, not sold separately)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GL &amp; Chart of Accounts   ·   AR/AP   ·   Users/Roles/Permissions   ·   AI Chat Layer   ·   Compliance Engine   ·   Audit Trail   ·   Base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Purchasing /
Procurement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3246120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3246120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3474720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Inventory &amp;
Warehouse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3246120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8344" y="3246120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3474720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Manufacturing
(MRP)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3246120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06056" y="3246120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3216" y="3474720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Sales &amp; CRM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73768" y="3246120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73768" y="3246120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3474720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HR &amp; Payroll
(Turkey-aware)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28032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828032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56632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Project Mgmt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0632" y="4828032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70632" y="4828032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5056632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POS / Retail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4" y="4828032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38344" y="4828032"/>
            <a:ext cx="2139696" cy="6400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4" y="5056632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E-commerce
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06056" y="4828032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06056" y="4828032"/>
            <a:ext cx="2139696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6" y="5056632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Advanced BI /
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73768" y="4828032"/>
            <a:ext cx="2139696" cy="141732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73768" y="4828032"/>
            <a:ext cx="2139696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0928" y="5056632"/>
            <a:ext cx="186537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D366B"/>
                </a:solidFill>
                <a:latin typeface="Segoe UI"/>
              </a:rPr>
              <a:t>Advanced AI
Agents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Transparent tiers — no reseller quotes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697480" cy="42976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366B"/>
                </a:solidFill>
                <a:latin typeface="Segoe U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2514E"/>
                </a:solidFill>
                <a:latin typeface="Segoe UI"/>
              </a:rPr>
              <a:t>1–15 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4F95"/>
                </a:solidFill>
                <a:latin typeface="Segoe UI"/>
              </a:rPr>
              <a:t>$15–25/user/mo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233172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0D366B"/>
                </a:solidFill>
                <a:latin typeface="Segoe UI"/>
              </a:rPr>
              <a:t>▸  Core + 1 package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0D366B"/>
                </a:solidFill>
                <a:latin typeface="Segoe UI"/>
              </a:rPr>
              <a:t>▸  Base AI, no agentic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429768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366B"/>
                </a:solidFill>
                <a:latin typeface="Segoe UI"/>
              </a:rP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317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2514E"/>
                </a:solidFill>
                <a:latin typeface="Segoe UI"/>
              </a:rPr>
              <a:t>15–75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4F95"/>
                </a:solidFill>
                <a:latin typeface="Segoe UI"/>
              </a:rPr>
              <a:t>$35–50/user/mo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20440"/>
            <a:ext cx="233172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0D366B"/>
                </a:solidFill>
                <a:latin typeface="Segoe UI"/>
              </a:rPr>
              <a:t>▸  Core + up to 4 packages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0D366B"/>
                </a:solidFill>
                <a:latin typeface="Segoe UI"/>
              </a:rPr>
              <a:t>▸  Base AI + limited AI credits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91640"/>
            <a:ext cx="2697480" cy="4297680"/>
          </a:xfrm>
          <a:prstGeom prst="rect">
            <a:avLst/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2697480" cy="91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317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Segoe UI"/>
              </a:rPr>
              <a:t>75–250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Segoe UI"/>
              </a:rPr>
              <a:t>$60–90/user/mo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33172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▸  Core + unlimited packages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▸  Base AI + generous AI credits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691640"/>
            <a:ext cx="2697480" cy="429768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920240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317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Segoe UI"/>
              </a:rPr>
              <a:t>250+ employees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78892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B6834"/>
                </a:solidFill>
                <a:latin typeface="Segoe UI"/>
              </a:rPr>
              <a:t>Custom/user/mo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20440"/>
            <a:ext cx="233172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▸  Everything + custom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FFFFFF"/>
                </a:solidFill>
                <a:latin typeface="Segoe UI"/>
              </a:rPr>
              <a:t>▸  Full agentic automation, on-prem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COST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Year-1 all-in cost, illustrative (~20-user deployment)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828800"/>
            <a:ext cx="420624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84F95"/>
                </a:solidFill>
                <a:latin typeface="Segoe UI"/>
              </a:rPr>
              <a:t>▸  SAP:</a:t>
            </a:r>
            <a:r>
              <a:rPr sz="1400" b="0">
                <a:solidFill>
                  <a:srgbClr val="0B0B0B"/>
                </a:solidFill>
                <a:latin typeface="Segoe UI"/>
              </a:rPr>
              <a:t>  $150K–$600K+ 3-yr TCO; SI fees alone = 40–60% of budget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84F95"/>
                </a:solidFill>
                <a:latin typeface="Segoe UI"/>
              </a:rPr>
              <a:t>▸  Logo:</a:t>
            </a:r>
            <a:r>
              <a:rPr sz="1400" b="0">
                <a:solidFill>
                  <a:srgbClr val="0B0B0B"/>
                </a:solidFill>
                <a:latin typeface="Segoe UI"/>
              </a:rPr>
              <a:t>  License looks cheap; implementation/customization billed separately by resellers, opaque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400" b="1">
                <a:solidFill>
                  <a:srgbClr val="184F95"/>
                </a:solidFill>
                <a:latin typeface="Segoe UI"/>
              </a:rPr>
              <a:t>▸  Us:</a:t>
            </a:r>
            <a:r>
              <a:rPr sz="1400" b="0">
                <a:solidFill>
                  <a:srgbClr val="0B0B0B"/>
                </a:solidFill>
                <a:latin typeface="Segoe UI"/>
              </a:rPr>
              <a:t>  Transparent, all-in, predictable — scales with headcount, not negotiation leverage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Small end first in Turkey, then broaden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697480" cy="4114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B683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Enter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331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Target the 76%+ of small Turkish firms with no ERP — lower CAC, lower switching anxiety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3749039"/>
            <a:ext cx="100584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737360"/>
            <a:ext cx="2697480" cy="4114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202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B6834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Win on compliance, then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46120"/>
            <a:ext cx="2331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Clear the e-Fatura/e-Defter trust bar first; differentiate on AI-native UX and pricing 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3749039"/>
            <a:ext cx="100584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737360"/>
            <a:ext cx="2697480" cy="4114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B6834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Lean partner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46120"/>
            <a:ext cx="2331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 thinner, more transparent reseller program than Logo's opaque İş Ortağı network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7968" y="3749039"/>
            <a:ext cx="100584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2697480" cy="41148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9202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B6834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5176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Expand internationally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246120"/>
            <a:ext cx="2331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Compete with Rillet/DualEntry on full operational scope once Turkey + compliance depth are proven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366B"/>
                </a:solidFill>
                <a:latin typeface="Segoe UI"/>
              </a:rPr>
              <a:t>Phased delivery, compliance-first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005840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10698480" cy="381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3666743"/>
            <a:ext cx="219456" cy="21945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1167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3171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97479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Segoe UI"/>
              </a:rPr>
              <a:t>Rip-and-replace vs. AI-copilot-on-Logo wedge decision</a:t>
            </a:r>
          </a:p>
        </p:txBody>
      </p:sp>
      <p:sp>
        <p:nvSpPr>
          <p:cNvPr id="10" name="Oval 9"/>
          <p:cNvSpPr/>
          <p:nvPr/>
        </p:nvSpPr>
        <p:spPr>
          <a:xfrm>
            <a:off x="3831336" y="3666743"/>
            <a:ext cx="219456" cy="21945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411479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443483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4800599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Segoe UI"/>
              </a:rPr>
              <a:t>Core + Turkey Localization Pack + Purchasing/Inventory</a:t>
            </a:r>
          </a:p>
        </p:txBody>
      </p:sp>
      <p:sp>
        <p:nvSpPr>
          <p:cNvPr id="14" name="Oval 13"/>
          <p:cNvSpPr/>
          <p:nvPr/>
        </p:nvSpPr>
        <p:spPr>
          <a:xfrm>
            <a:off x="5971032" y="3666743"/>
            <a:ext cx="219456" cy="21945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01167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33171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697479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Segoe UI"/>
              </a:rPr>
              <a:t>Manufacturing, HR/Payroll, CRM + metered AI credits</a:t>
            </a:r>
          </a:p>
        </p:txBody>
      </p:sp>
      <p:sp>
        <p:nvSpPr>
          <p:cNvPr id="18" name="Oval 17"/>
          <p:cNvSpPr/>
          <p:nvPr/>
        </p:nvSpPr>
        <p:spPr>
          <a:xfrm>
            <a:off x="8110728" y="3666743"/>
            <a:ext cx="219456" cy="21945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411479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443483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Broaden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616" y="4800599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Segoe UI"/>
              </a:rPr>
              <a:t>POS, e-commerce, Advanced BI + Agents Pack + 1st intl market</a:t>
            </a:r>
          </a:p>
        </p:txBody>
      </p:sp>
      <p:sp>
        <p:nvSpPr>
          <p:cNvPr id="22" name="Oval 21"/>
          <p:cNvSpPr/>
          <p:nvPr/>
        </p:nvSpPr>
        <p:spPr>
          <a:xfrm>
            <a:off x="10250424" y="3666743"/>
            <a:ext cx="219456" cy="21945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201167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331719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D366B"/>
                </a:solidFill>
                <a:latin typeface="Segoe UI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697479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2514E"/>
                </a:solidFill>
                <a:latin typeface="Segoe UI"/>
              </a:rPr>
              <a:t>Enterprise tier, multi-entity, additional localization 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Decisions we need to make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Rip-and-replace full ERP vs. AI-copilot-on-Logo as the initial wedge?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Which package ships first after Core — Purchasing or Inventory?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91840"/>
            <a:ext cx="50292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Build a services/implementation arm, or stay pure-SaaS with partners?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50292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148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Product/brand name — needed before domain &amp; trademark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50292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9204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FFFFFF"/>
                </a:solidFill>
                <a:latin typeface="Segoe UI"/>
              </a:rPr>
              <a:t>Any design partners or LOIs already in motion to prioritize?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3C2B7"/>
                </a:solidFill>
                <a:latin typeface="Segoe UI"/>
              </a:rPr>
              <a:t>AI-Native ERP  —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C3C2B7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